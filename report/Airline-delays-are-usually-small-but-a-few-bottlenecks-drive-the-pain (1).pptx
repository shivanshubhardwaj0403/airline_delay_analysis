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2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Arial Nova Light" panose="020B0304020202020204" pitchFamily="34" charset="0"/>
      <p:regular r:id="rId13"/>
      <p:italic r:id="rId14"/>
    </p:embeddedFont>
    <p:embeddedFont>
      <p:font typeface="Bitter" panose="020B0604020202020204" charset="0"/>
      <p:regular r:id="rId15"/>
    </p:embeddedFont>
    <p:embeddedFont>
      <p:font typeface="Bitter Bold" panose="020B0604020202020204" charset="0"/>
      <p:regular r:id="rId16"/>
    </p:embeddedFont>
    <p:embeddedFont>
      <p:font typeface="Bitter SemiBold" panose="020B0604020202020204" charset="0"/>
      <p:regular r:id="rId17"/>
    </p:embeddedFont>
    <p:embeddedFont>
      <p:font typeface="Jost" panose="020B0604020202020204" charset="0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446A22-384E-4E1C-B6D8-8ECADF2A47AB}" v="36" dt="2026-10-20T07:30:08.6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FDAA40-9546-4005-AC5B-8BB788819439}" type="datetimeFigureOut">
              <a:t>10/20/2026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A700F9-DB14-4232-8B10-39CF196B2DA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7867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DA2CEDE-2AB4-4FB8-9551-E0AA4222B1A3}" type="datetimeFigureOut">
              <a:rPr lang="en-US" dirty="0"/>
              <a:t>10/20/2026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63926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9830017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0EE6BAA-0080-49BB-A5F6-D96B22DFE410}" type="datetimeFigureOut">
              <a:rPr lang="en-US" dirty="0"/>
              <a:t>10/20/2026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394716" y="170483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6544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1"/>
            <a:ext cx="6096000" cy="68579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2306" y="4231338"/>
            <a:ext cx="7189694" cy="2626661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00" y="210312"/>
            <a:ext cx="1473201" cy="365760"/>
          </a:xfrm>
        </p:spPr>
        <p:txBody>
          <a:bodyPr/>
          <a:lstStyle/>
          <a:p>
            <a:fld id="{21560963-1EEA-4BDE-8FF9-3FEE13B5D43C}" type="datetimeFigureOut">
              <a:rPr lang="en-US" dirty="0"/>
              <a:t>10/20/2026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164921" y="210312"/>
            <a:ext cx="2181351" cy="36576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47711" y="210312"/>
            <a:ext cx="448805" cy="365760"/>
          </a:xfrm>
        </p:spPr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1920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FigureOut">
              <a:rPr lang="en-US" dirty="0"/>
              <a:t>10/20/2026</a:t>
            </a:fld>
            <a:endParaRPr lang="en-US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3432121"/>
            <a:ext cx="12192000" cy="1825033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/>
        </p:nvSpPr>
        <p:spPr>
          <a:xfrm rot="16200000" flipH="1">
            <a:off x="5938634" y="-996853"/>
            <a:ext cx="1825034" cy="10681699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56160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367222" y="367225"/>
            <a:ext cx="6866356" cy="6131909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1977949" y="2307330"/>
            <a:ext cx="6528619" cy="257271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4216109"/>
            <a:ext cx="8887299" cy="264453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99" y="952500"/>
            <a:ext cx="8887299" cy="5636798"/>
          </a:xfrm>
        </p:spPr>
        <p:txBody>
          <a:bodyPr anchor="b">
            <a:normAutofit/>
          </a:bodyPr>
          <a:lstStyle>
            <a:lvl1pPr algn="r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FigureOut">
              <a:rPr lang="en-US" dirty="0"/>
              <a:t>10/20/2026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7201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8450" y="0"/>
            <a:ext cx="7600185" cy="68580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0" y="3409447"/>
            <a:ext cx="7609635" cy="3448553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394816" y="-375817"/>
            <a:ext cx="6858000" cy="7609635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1188613" y="417977"/>
            <a:ext cx="5518112" cy="7361933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2" y="1714498"/>
            <a:ext cx="4960617" cy="4722876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DA2CEDE-2AB4-4FB8-9551-E0AA4222B1A3}" type="datetimeFigureOut">
              <a:rPr lang="en-US" dirty="0"/>
              <a:t>10/20/2026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909368" y="210114"/>
            <a:ext cx="2509284" cy="36576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2232" y="1246951"/>
            <a:ext cx="3404277" cy="4923185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8002560" y="762000"/>
            <a:ext cx="384048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1639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4619" y="-2"/>
            <a:ext cx="12177379" cy="4492404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723903" y="1161955"/>
            <a:ext cx="11468097" cy="3330447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4621" y="-7466"/>
            <a:ext cx="6110621" cy="2500409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468924"/>
            <a:ext cx="5096176" cy="246130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19100" y="210114"/>
            <a:ext cx="2064089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5515BC3-2A9C-497B-B82C-246EEDDDF89C}" type="datetimeFigureOut">
              <a:rPr lang="en-US" dirty="0"/>
              <a:t>10/20/2026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77000" y="210114"/>
            <a:ext cx="325150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7383" y="1161955"/>
            <a:ext cx="4158158" cy="276827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0" y="4492402"/>
            <a:ext cx="12192000" cy="236559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72403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12192000" cy="6869579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1727456"/>
            <a:ext cx="12192001" cy="5130541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4285048" y="-1037373"/>
            <a:ext cx="6869579" cy="8944324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3586718" y="-681705"/>
            <a:ext cx="6783165" cy="8296238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394716" y="6101080"/>
            <a:ext cx="11402568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12192000" cy="5281424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914400"/>
            <a:ext cx="7498080" cy="2621280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DA2CEDE-2AB4-4FB8-9551-E0AA4222B1A3}" type="datetimeFigureOut">
              <a:rPr lang="en-US" dirty="0"/>
              <a:t>10/20/2026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3901440"/>
            <a:ext cx="7498080" cy="1828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68698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391802" y="773848"/>
            <a:ext cx="11800198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773847"/>
            <a:ext cx="11026588" cy="1634270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918144"/>
            <a:ext cx="2939186" cy="20968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3E08220-0958-4EB6-84AC-FBA5654D4035}" type="datetimeFigureOut">
              <a:rPr lang="en-US" dirty="0"/>
              <a:t>10/20/2026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4000" y="210114"/>
            <a:ext cx="2939491" cy="36576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0" y="1918145"/>
            <a:ext cx="4991100" cy="413303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6790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500"/>
            <a:ext cx="3332784" cy="158191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5986"/>
            <a:ext cx="1097280" cy="365760"/>
          </a:xfrm>
        </p:spPr>
        <p:txBody>
          <a:bodyPr/>
          <a:lstStyle/>
          <a:p>
            <a:fld id="{37D881E9-FF16-48A7-B8AA-A17AAAEAD6E1}" type="datetimeFigureOut">
              <a:rPr lang="en-US" dirty="0"/>
              <a:t>10/20/2026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494378" y="207291"/>
            <a:ext cx="1639372" cy="36576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140760" y="210114"/>
            <a:ext cx="493776" cy="365760"/>
          </a:xfrm>
        </p:spPr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3099816"/>
            <a:ext cx="3332784" cy="30540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4152900" y="0"/>
            <a:ext cx="80391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397288" y="2811277"/>
            <a:ext cx="324613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1518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282051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0" y="0"/>
            <a:ext cx="12192000" cy="386407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4282051"/>
            <a:ext cx="7010399" cy="1532976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263640"/>
            <a:ext cx="1759288" cy="365760"/>
          </a:xfrm>
        </p:spPr>
        <p:txBody>
          <a:bodyPr/>
          <a:lstStyle/>
          <a:p>
            <a:fld id="{862C1B48-5712-40E8-928E-1136C5D12A17}" type="datetimeFigureOut">
              <a:rPr lang="en-US" dirty="0"/>
              <a:t>10/20/2026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6263640"/>
            <a:ext cx="2509284" cy="36576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0323" y="6263640"/>
            <a:ext cx="605475" cy="365760"/>
          </a:xfrm>
        </p:spPr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77918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984" y="955810"/>
            <a:ext cx="4114800" cy="1244051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0" y="1"/>
            <a:ext cx="695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469431" y="210114"/>
            <a:ext cx="1485900" cy="365760"/>
          </a:xfrm>
        </p:spPr>
        <p:txBody>
          <a:bodyPr/>
          <a:lstStyle/>
          <a:p>
            <a:fld id="{2BDF39F2-6977-4B14-98E3-4DFE82804B0D}" type="datetimeFigureOut">
              <a:rPr lang="en-US" dirty="0"/>
              <a:t>10/20/2026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376096" y="210114"/>
            <a:ext cx="1860464" cy="36576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91984" y="2791033"/>
            <a:ext cx="4114800" cy="33832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7595441" y="2475756"/>
            <a:ext cx="4011343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265698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7686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C1B48-5712-40E8-928E-1136C5D12A17}" type="datetimeFigureOut">
              <a:rPr lang="en-US" dirty="0"/>
              <a:t>10/20/2026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210114"/>
            <a:ext cx="2509284" cy="36576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1017686"/>
            <a:ext cx="7010399" cy="237744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0" y="3837709"/>
            <a:ext cx="12192000" cy="3020291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832477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371600"/>
            <a:ext cx="3474720" cy="228600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23EC03A-74B3-46B6-A70D-0B367EABDC7F}" type="datetimeFigureOut">
              <a:rPr lang="en-US" dirty="0"/>
              <a:t>10/20/2026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57700" y="210114"/>
            <a:ext cx="2859307" cy="36576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611572" y="210114"/>
            <a:ext cx="605475" cy="365760"/>
          </a:xfrm>
        </p:spPr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7700" y="1371600"/>
            <a:ext cx="3368778" cy="4701943"/>
          </a:xfrm>
        </p:spPr>
        <p:txBody>
          <a:bodyPr rIns="45720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8731045" y="0"/>
            <a:ext cx="3460955" cy="686687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4771072"/>
            <a:ext cx="4874661" cy="2095805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2" y="3852909"/>
            <a:ext cx="2823100" cy="3022846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772668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21218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3862"/>
            <a:ext cx="2286000" cy="365760"/>
          </a:xfrm>
        </p:spPr>
        <p:txBody>
          <a:bodyPr/>
          <a:lstStyle/>
          <a:p>
            <a:fld id="{D6F66A7C-2450-4D43-AEC7-53AFAE9E8A03}" type="datetimeFigureOut">
              <a:rPr lang="en-US" dirty="0"/>
              <a:t>10/20/2026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590800" y="203862"/>
            <a:ext cx="2775003" cy="36576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47336" y="203862"/>
            <a:ext cx="864794" cy="365760"/>
          </a:xfrm>
        </p:spPr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7620000" y="0"/>
            <a:ext cx="4572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3706098"/>
            <a:ext cx="7620000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5597112"/>
            <a:ext cx="7620000" cy="1260888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6620256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85801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834639"/>
            <a:ext cx="3014382" cy="29260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-17796" y="0"/>
            <a:ext cx="12209796" cy="242009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834640"/>
            <a:ext cx="7200900" cy="29260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None/>
              <a:defRPr sz="1800"/>
            </a:lvl1pPr>
            <a:lvl2pPr marL="514350" indent="-285750">
              <a:buFont typeface="Arial" panose="020B0604020202020204" pitchFamily="34" charset="0"/>
              <a:buNone/>
              <a:defRPr sz="16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200"/>
            </a:lvl4pPr>
            <a:lvl5pPr marL="1085850" indent="-17145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6274033"/>
            <a:ext cx="3014382" cy="365760"/>
          </a:xfrm>
        </p:spPr>
        <p:txBody>
          <a:bodyPr/>
          <a:lstStyle/>
          <a:p>
            <a:fld id="{FBC323F5-F813-45BA-B261-A7C41DB03AE5}" type="datetimeFigureOut">
              <a:rPr lang="en-US" dirty="0"/>
              <a:t>10/20/2026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80560" y="6274033"/>
            <a:ext cx="3162300" cy="36576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92840" y="6274033"/>
            <a:ext cx="568917" cy="365760"/>
          </a:xfrm>
        </p:spPr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67509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0934"/>
            <a:ext cx="3507418" cy="1398494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4A97960-D10E-4C66-898F-E062784CD6C7}" type="datetimeFigureOut">
              <a:rPr lang="en-US" dirty="0"/>
              <a:t>10/20/2026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2680" y="210114"/>
            <a:ext cx="2509284" cy="36576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451351" y="2680447"/>
            <a:ext cx="3357819" cy="366208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2171702" y="5847066"/>
            <a:ext cx="10020298" cy="1010934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7767364" y="2433362"/>
            <a:ext cx="4944033" cy="390523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4426824" y="1075765"/>
            <a:ext cx="0" cy="4944035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2679" y="1010932"/>
            <a:ext cx="6492240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608874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9811"/>
            <a:ext cx="3419380" cy="1856553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4A97960-D10E-4C66-898F-E062784CD6C7}" type="datetimeFigureOut">
              <a:rPr lang="en-US" dirty="0"/>
              <a:t>10/20/2026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8969" y="210114"/>
            <a:ext cx="2509284" cy="36576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382390" y="3045041"/>
            <a:ext cx="3338742" cy="329748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8968" y="1019810"/>
            <a:ext cx="731520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597830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8" y="4907611"/>
            <a:ext cx="5320285" cy="1438873"/>
          </a:xfrm>
        </p:spPr>
        <p:txBody>
          <a:bodyPr anchor="t"/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7B77AD4-7B4F-4A76-ADEB-9CF6601338DB}" type="datetimeFigureOut">
              <a:rPr lang="en-US" dirty="0"/>
              <a:t>10/20/2026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638" y="766763"/>
            <a:ext cx="11320462" cy="3489325"/>
          </a:xfrm>
        </p:spPr>
        <p:txBody>
          <a:bodyPr/>
          <a:lstStyle>
            <a:lvl1pPr>
              <a:lnSpc>
                <a:spcPct val="85000"/>
              </a:lnSpc>
              <a:defRPr sz="24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394716" y="466224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28172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12192002" cy="68580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3683466" y="0"/>
            <a:ext cx="8508534" cy="68580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670408" y="-1670408"/>
            <a:ext cx="7492544" cy="1083336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5031742" y="-20336"/>
            <a:ext cx="7160258" cy="6878336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8961" y="2704579"/>
            <a:ext cx="12183038" cy="4153421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2E0CC3F-E257-4F6E-9E6A-B96D887699EC}" type="datetimeFigureOut">
              <a:rPr lang="en-US" dirty="0"/>
              <a:t>10/20/2026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320" y="2704946"/>
            <a:ext cx="9801225" cy="3538538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  <a:lvl2pPr>
              <a:lnSpc>
                <a:spcPct val="100000"/>
              </a:lnSpc>
              <a:defRPr sz="4800"/>
            </a:lvl2pPr>
            <a:lvl3pPr>
              <a:lnSpc>
                <a:spcPct val="100000"/>
              </a:lnSpc>
              <a:defRPr sz="4400"/>
            </a:lvl3pPr>
            <a:lvl4pPr>
              <a:lnSpc>
                <a:spcPct val="100000"/>
              </a:lnSpc>
              <a:defRPr sz="4000"/>
            </a:lvl4pPr>
            <a:lvl5pPr>
              <a:lnSpc>
                <a:spcPct val="100000"/>
              </a:lnSpc>
              <a:defRPr sz="36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844741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861412"/>
            <a:ext cx="12192000" cy="301077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2667005" y="-2666996"/>
            <a:ext cx="6857996" cy="121919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4381500" y="-4373435"/>
            <a:ext cx="3429000" cy="1217587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4967784"/>
            <a:ext cx="8484108" cy="1052015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0BDAA3E-BE52-42BC-99E8-CCCB81A57ABD}" type="datetimeFigureOut">
              <a:rPr lang="en-US" dirty="0"/>
              <a:t>10/20/2026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900" y="1405719"/>
            <a:ext cx="8484108" cy="3087622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lang="en-US" sz="36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/>
        </p:nvCxnSpPr>
        <p:spPr>
          <a:xfrm flipH="1">
            <a:off x="2077285" y="4810814"/>
            <a:ext cx="8273723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784328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7012885" cy="1381432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B1491A9-BF26-4517-AB22-6183D453A902}" type="datetimeFigureOut">
              <a:rPr lang="en-US" dirty="0"/>
              <a:t>10/20/2026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394716" y="303297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4765041" y="-568961"/>
            <a:ext cx="2661919" cy="12192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4516120" y="-817882"/>
            <a:ext cx="3159760" cy="12192003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3230" y="3429000"/>
            <a:ext cx="11171699" cy="24656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290070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5020923" y="-2430130"/>
            <a:ext cx="1825034" cy="1186688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2590790"/>
            <a:ext cx="12192000" cy="1825033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6095999" cy="1454506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A5024DF-23AF-419A-978A-28215FBF1E37}" type="datetimeFigureOut">
              <a:rPr lang="en-US" dirty="0"/>
              <a:t>10/20/2026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3337560"/>
            <a:ext cx="3595171" cy="282858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0381216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0858500" cy="6923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B01CFC0-D171-4F9D-A610-2F47C1080058}" type="datetimeFigureOut">
              <a:rPr lang="en-US" dirty="0"/>
              <a:t>10/20/2026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1806575"/>
            <a:ext cx="5165725" cy="458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1" y="1806575"/>
            <a:ext cx="4991100" cy="458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394716" y="158496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977701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1585448" cy="6620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DA2CEDE-2AB4-4FB8-9551-E0AA4222B1A3}" type="datetimeFigureOut">
              <a:rPr lang="en-US" dirty="0"/>
              <a:t>10/20/2026</a:t>
            </a:fld>
            <a:endParaRPr lang="en-US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1775779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2492481"/>
            <a:ext cx="5165725" cy="390038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0840" y="1775777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0" y="2492481"/>
            <a:ext cx="5181907" cy="390038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394716" y="1579934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2447754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05840"/>
            <a:ext cx="9906000" cy="80104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42483-B3E3-4399-B6B2-4B1D067F8CE5}" type="datetimeFigureOut">
              <a:rPr lang="en-US" dirty="0"/>
              <a:t>10/20/2026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247647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6574F-2CAD-411B-9EF3-12D0DF2C09EB}" type="datetimeFigureOut">
              <a:rPr lang="en-US" dirty="0"/>
              <a:t>10/20/2026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580323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71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25071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171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402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869140"/>
            <a:ext cx="11604046" cy="9692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" y="210114"/>
            <a:ext cx="175928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7DA2CEDE-2AB4-4FB8-9551-E0AA4222B1A3}" type="datetimeFigureOut">
              <a:rPr lang="en-US" dirty="0"/>
              <a:pPr/>
              <a:t>10/20/2026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22485" y="210114"/>
            <a:ext cx="25092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0323" y="210114"/>
            <a:ext cx="60547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2047284"/>
            <a:ext cx="11604046" cy="4234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394716" y="751313"/>
            <a:ext cx="1140256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851735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68" r:id="rId16"/>
    <p:sldLayoutId id="2147483669" r:id="rId17"/>
    <p:sldLayoutId id="2147483670" r:id="rId18"/>
    <p:sldLayoutId id="2147483671" r:id="rId19"/>
    <p:sldLayoutId id="2147483672" r:id="rId20"/>
    <p:sldLayoutId id="2147483673" r:id="rId21"/>
    <p:sldLayoutId id="2147483674" r:id="rId22"/>
    <p:sldLayoutId id="2147483675" r:id="rId23"/>
    <p:sldLayoutId id="2147483676" r:id="rId24"/>
    <p:sldLayoutId id="2147483677" r:id="rId25"/>
    <p:sldLayoutId id="2147483678" r:id="rId26"/>
    <p:sldLayoutId id="2147483679" r:id="rId27"/>
    <p:sldLayoutId id="2147483680" r:id="rId28"/>
    <p:sldLayoutId id="2147483681" r:id="rId29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>
          <p15:clr>
            <a:srgbClr val="F26B43"/>
          </p15:clr>
        </p15:guide>
        <p15:guide id="22" orient="horz" pos="2160">
          <p15:clr>
            <a:srgbClr val="F26B43"/>
          </p15:clr>
        </p15:guide>
        <p15:guide id="23" pos="4800">
          <p15:clr>
            <a:srgbClr val="F26B43"/>
          </p15:clr>
        </p15:guide>
        <p15:guide id="24" orient="horz" pos="480">
          <p15:clr>
            <a:srgbClr val="F26B43"/>
          </p15:clr>
        </p15:guide>
        <p15:guide id="25" orient="horz" pos="864">
          <p15:clr>
            <a:srgbClr val="F26B43"/>
          </p15:clr>
        </p15:guide>
        <p15:guide id="26" pos="7392">
          <p15:clr>
            <a:srgbClr val="F26B43"/>
          </p15:clr>
        </p15:guide>
        <p15:guide id="27" orient="horz" pos="3840">
          <p15:clr>
            <a:srgbClr val="F26B43"/>
          </p15:clr>
        </p15:guide>
        <p15:guide id="28" pos="240">
          <p15:clr>
            <a:srgbClr val="F26B43"/>
          </p15:clr>
        </p15:guide>
        <p15:guide id="29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AIRLINE DELAY ANALYSIS / 2015 FLIGHT DATASET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3096022"/>
            <a:ext cx="10972526" cy="281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74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Airline delays are usually small — but a few bottlenecks drive the pain</a:t>
            </a:r>
            <a:endParaRPr lang="en-US" sz="7400" dirty="0"/>
          </a:p>
        </p:txBody>
      </p:sp>
      <p:sp>
        <p:nvSpPr>
          <p:cNvPr id="4" name="Text 2"/>
          <p:cNvSpPr/>
          <p:nvPr/>
        </p:nvSpPr>
        <p:spPr>
          <a:xfrm>
            <a:off x="609585" y="5999559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Six million flights, one operating picture.</a:t>
            </a:r>
            <a:endParaRPr lang="en-US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60CF51-B5A4-0C79-560F-EA2B6BD7FD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7634" y="6121017"/>
            <a:ext cx="1191284" cy="73824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01 — SCALE OF THE PROBLEM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00371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Six million flights reveal a 37% delay problem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9585" y="1494036"/>
            <a:ext cx="5333867" cy="4523184"/>
          </a:xfrm>
          <a:prstGeom prst="roundRect">
            <a:avLst>
              <a:gd name="adj" fmla="val 253"/>
            </a:avLst>
          </a:prstGeom>
          <a:noFill/>
          <a:ln w="19050">
            <a:solidFill>
              <a:srgbClr val="3029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7229" y="1741686"/>
            <a:ext cx="5086223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DATASET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57229" y="2021979"/>
            <a:ext cx="4838579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6M+ rows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57229" y="2407741"/>
            <a:ext cx="4838579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30 fields · 8,606 routes analyzed across the 2015 flight dataset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57229" y="3054648"/>
            <a:ext cx="4838579" cy="19050"/>
          </a:xfrm>
          <a:prstGeom prst="roundRect">
            <a:avLst>
              <a:gd name="adj" fmla="val 49999"/>
            </a:avLst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857229" y="3276898"/>
            <a:ext cx="5086223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DEPARTED LATE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57229" y="3557191"/>
            <a:ext cx="4838579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37.08%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57229" y="3942953"/>
            <a:ext cx="5086223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Of flights departed late after removing cancelled flights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57229" y="4341019"/>
            <a:ext cx="4838579" cy="19050"/>
          </a:xfrm>
          <a:prstGeom prst="roundRect">
            <a:avLst>
              <a:gd name="adj" fmla="val 49999"/>
            </a:avLst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857229" y="4563269"/>
            <a:ext cx="5086223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CANCELLED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57229" y="4843562"/>
            <a:ext cx="4838579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89,884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57229" y="5229324"/>
            <a:ext cx="5086223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1.54% of the full dataset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57229" y="5582940"/>
            <a:ext cx="5086223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Average departure delay: 9.4 minutes; median: −2 minutes.</a:t>
            </a:r>
            <a:endParaRPr lang="en-US" sz="105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244" y="2041128"/>
            <a:ext cx="5079873" cy="34290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77895" y="6466086"/>
            <a:ext cx="897808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2026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946135" y="6466086"/>
            <a:ext cx="245560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2</a:t>
            </a:r>
            <a:endParaRPr lang="en-US" sz="10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7C6AF84-995A-9A09-F8A1-AEC4B2963F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7634" y="6121017"/>
            <a:ext cx="1191284" cy="73824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02 — DELAY DISTRIBUTION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00371"/>
            <a:ext cx="10972526" cy="893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Most delays cluster around zero — the average is pulled up by outliers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1941016"/>
            <a:ext cx="4267093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75TH PERCENTILE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09585" y="2232422"/>
            <a:ext cx="4267093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F2EDFB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7 minutes</a:t>
            </a: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— 75% of flights had a departure delay of 7 minutes or less.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585" y="2834878"/>
            <a:ext cx="4267093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NORMAL RANGE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09585" y="3126284"/>
            <a:ext cx="4267093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F2EDFB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−10 to +10</a:t>
            </a: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— Most flights left between 10 minutes early and 10 minutes late.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09585" y="3728740"/>
            <a:ext cx="4267093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LONG TAIL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09585" y="4020145"/>
            <a:ext cx="4267093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F2EDFB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1,988 minutes</a:t>
            </a: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— The maximum recorded delay.</a:t>
            </a:r>
            <a:endParaRPr lang="en-US" sz="14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371" y="1941016"/>
            <a:ext cx="6400739" cy="4205883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77895" y="6466086"/>
            <a:ext cx="897808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2026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942960" y="6466086"/>
            <a:ext cx="2487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3</a:t>
            </a:r>
            <a:endParaRPr lang="en-US" sz="10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4956D9B-03E2-6DD4-269E-D4229D6E11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7634" y="6121017"/>
            <a:ext cx="1191284" cy="73824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03 — DELAY REASONS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29580"/>
            <a:ext cx="10972526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0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Late aircraft and airline operations explain most delay minutes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09585" y="2317055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Operational causes dominate weather and security by a wide margin.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585" y="2724646"/>
            <a:ext cx="4267093" cy="1084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Late aircraft: 39.8% of delay minutes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Airline delay: 32.2% — the largest directly controllable share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Air system: 22.9%; weather: 4.9%; security: 0.1%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371" y="2724646"/>
            <a:ext cx="5079873" cy="3048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7895" y="6466086"/>
            <a:ext cx="897808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2026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941174" y="6466086"/>
            <a:ext cx="250521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4</a:t>
            </a:r>
            <a:endParaRPr lang="en-US" sz="1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B241FCE-C9CD-8CB4-4D92-802FA346E8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7634" y="6121017"/>
            <a:ext cx="1191284" cy="73824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04 — AIRLINE PERFORMANCE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29580"/>
            <a:ext cx="10972526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0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Airline performance depends on both delay size and delay frequency</a:t>
            </a:r>
            <a:endParaRPr lang="en-US" sz="5000" dirty="0"/>
          </a:p>
        </p:txBody>
      </p:sp>
      <p:sp>
        <p:nvSpPr>
          <p:cNvPr id="4" name="Shape 2"/>
          <p:cNvSpPr/>
          <p:nvPr/>
        </p:nvSpPr>
        <p:spPr>
          <a:xfrm>
            <a:off x="609585" y="2317055"/>
            <a:ext cx="4267093" cy="3931345"/>
          </a:xfrm>
          <a:prstGeom prst="rect">
            <a:avLst/>
          </a:prstGeom>
          <a:solidFill>
            <a:srgbClr val="4A3670"/>
          </a:solidFill>
          <a:ln/>
        </p:spPr>
      </p:sp>
      <p:sp>
        <p:nvSpPr>
          <p:cNvPr id="5" name="Text 3"/>
          <p:cNvSpPr/>
          <p:nvPr/>
        </p:nvSpPr>
        <p:spPr>
          <a:xfrm>
            <a:off x="838179" y="2545655"/>
            <a:ext cx="4038499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AVERAGE DELAY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38179" y="2837061"/>
            <a:ext cx="3809905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Highest: Spirit 15.94 minutes, United 14.44, Frontier 13.35. Lowest: Hawaiian 0.49 minutes and Alaska 1.79.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38179" y="3688358"/>
            <a:ext cx="4038499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LATE-DEPARTURE CHANCE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38179" y="3979763"/>
            <a:ext cx="3809905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United had the highest chance of a late departure at about 50%; Alaska was lowest at about 25%.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38179" y="4831060"/>
            <a:ext cx="4038499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SOUTHWEST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38179" y="5122466"/>
            <a:ext cx="3809905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Lower average delay than Spirit, but late more often.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81371" y="2545655"/>
          <a:ext cx="6400739" cy="2774484"/>
        </p:xfrm>
        <a:graphic>
          <a:graphicData uri="http://schemas.openxmlformats.org/drawingml/2006/table">
            <a:tbl>
              <a:tblPr/>
              <a:tblGrid>
                <a:gridCol w="17456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74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276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72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Airline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Average delay (min)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Late-departure chance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72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Spirit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15.94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44%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72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United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14.44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50%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72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Frontier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13.35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—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72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Southwest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6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10.58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6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45%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6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72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Alaska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1.79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25%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Hawaiian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0.49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—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177895" y="6466086"/>
            <a:ext cx="897808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2026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947425" y="6466086"/>
            <a:ext cx="244270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5</a:t>
            </a:r>
            <a:endParaRPr lang="en-US" sz="1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7E26EBD-B733-0248-CD79-4B01090B87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7634" y="6121017"/>
            <a:ext cx="1191284" cy="73824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05 — SEASONAL PRESSURE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29580"/>
            <a:ext cx="10972526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0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June and the winter holiday period are the seasonal pressure points</a:t>
            </a:r>
            <a:endParaRPr lang="en-US" sz="5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317055"/>
            <a:ext cx="6349841" cy="36847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4918" y="2317055"/>
            <a:ext cx="4267192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PEAK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314918" y="2597349"/>
            <a:ext cx="4267192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June · 13.99 minutes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314918" y="2983111"/>
            <a:ext cx="4267192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February: 11.89 · December: 11.78 · July: 11.39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314918" y="3381177"/>
            <a:ext cx="4267093" cy="19050"/>
          </a:xfrm>
          <a:prstGeom prst="roundRect">
            <a:avLst>
              <a:gd name="adj" fmla="val 49999"/>
            </a:avLst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7314918" y="3603427"/>
            <a:ext cx="4267192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LOW POINT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314918" y="3883720"/>
            <a:ext cx="4267192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September · 4.82 minutes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7314918" y="4269482"/>
            <a:ext cx="4267192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October: 4.98 minutes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77895" y="6466086"/>
            <a:ext cx="897808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2026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940777" y="6466086"/>
            <a:ext cx="250918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6</a:t>
            </a:r>
            <a:endParaRPr lang="en-US" sz="1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E155B85-FCF3-1088-6F5D-A951F027CC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7634" y="6121017"/>
            <a:ext cx="1191284" cy="73824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06 — SEVERE DELAYS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29580"/>
            <a:ext cx="10972526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0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Severe delays are fewer — but they concentrate the passenger impact</a:t>
            </a:r>
            <a:endParaRPr lang="en-US" sz="5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545655"/>
            <a:ext cx="5460863" cy="3683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70509" y="2317055"/>
            <a:ext cx="3911601" cy="4140200"/>
          </a:xfrm>
          <a:prstGeom prst="roundRect">
            <a:avLst>
              <a:gd name="adj" fmla="val 292"/>
            </a:avLst>
          </a:prstGeom>
          <a:noFill/>
          <a:ln w="19050">
            <a:solidFill>
              <a:srgbClr val="30294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918153" y="2564705"/>
            <a:ext cx="3663958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60+ MINUTES LATE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918153" y="2844999"/>
            <a:ext cx="3416314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324K flights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918153" y="3230761"/>
            <a:ext cx="3663958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Around 6% of all flights.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918153" y="3628827"/>
            <a:ext cx="3416215" cy="19050"/>
          </a:xfrm>
          <a:prstGeom prst="roundRect">
            <a:avLst>
              <a:gd name="adj" fmla="val 49999"/>
            </a:avLst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7918153" y="3851077"/>
            <a:ext cx="3663958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TOP AIRPORTS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918153" y="4131370"/>
            <a:ext cx="3416314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ORD · ATL · DFW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7918153" y="4517132"/>
            <a:ext cx="3663958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The top three airports for severe delays.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918153" y="4915198"/>
            <a:ext cx="3416215" cy="19050"/>
          </a:xfrm>
          <a:prstGeom prst="roundRect">
            <a:avLst>
              <a:gd name="adj" fmla="val 49999"/>
            </a:avLst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7918153" y="5083473"/>
            <a:ext cx="3663958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READ COUNTS WITH VOLUME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918153" y="5374878"/>
            <a:ext cx="3416314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Severe delays are concentrated in high-volume operators, so counts should be read alongside fleet and flight volume.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77895" y="6466086"/>
            <a:ext cx="897808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2026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1951393" y="6466086"/>
            <a:ext cx="240302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7</a:t>
            </a:r>
            <a:endParaRPr lang="en-US" sz="10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E47501A-0910-30D3-46DA-2404AC9B98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7634" y="6121017"/>
            <a:ext cx="1191284" cy="73824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07 — ROUTE OUTLIERS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29580"/>
            <a:ext cx="10972526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0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Route disruption is concentrated in a small set of outliers</a:t>
            </a:r>
            <a:endParaRPr lang="en-US" sz="5000" dirty="0"/>
          </a:p>
        </p:txBody>
      </p:sp>
      <p:sp>
        <p:nvSpPr>
          <p:cNvPr id="4" name="Shape 2"/>
          <p:cNvSpPr/>
          <p:nvPr/>
        </p:nvSpPr>
        <p:spPr>
          <a:xfrm>
            <a:off x="609585" y="2317055"/>
            <a:ext cx="3454314" cy="1659037"/>
          </a:xfrm>
          <a:prstGeom prst="roundRect">
            <a:avLst>
              <a:gd name="adj" fmla="val 689"/>
            </a:avLst>
          </a:prstGeom>
          <a:noFill/>
          <a:ln w="19050">
            <a:solidFill>
              <a:srgbClr val="3029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7229" y="2564705"/>
            <a:ext cx="320667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WORST ROUTE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57229" y="2844999"/>
            <a:ext cx="2959026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IAD → TTN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57229" y="3230761"/>
            <a:ext cx="320667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About 341 minutes average delay.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68691" y="2317055"/>
            <a:ext cx="3454314" cy="1659037"/>
          </a:xfrm>
          <a:prstGeom prst="roundRect">
            <a:avLst>
              <a:gd name="adj" fmla="val 689"/>
            </a:avLst>
          </a:prstGeom>
          <a:noFill/>
          <a:ln w="19050">
            <a:solidFill>
              <a:srgbClr val="3029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6335" y="2564705"/>
            <a:ext cx="320667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NEXT OUTLIER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616335" y="2844999"/>
            <a:ext cx="2959026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SWF → PBI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616335" y="3230761"/>
            <a:ext cx="320667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About 256 minutes average delay.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27797" y="2317055"/>
            <a:ext cx="3454314" cy="1659037"/>
          </a:xfrm>
          <a:prstGeom prst="roundRect">
            <a:avLst>
              <a:gd name="adj" fmla="val 689"/>
            </a:avLst>
          </a:prstGeom>
          <a:noFill/>
          <a:ln w="19050">
            <a:solidFill>
              <a:srgbClr val="3029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75440" y="2564705"/>
            <a:ext cx="320667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OTHER OUTLIERS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375440" y="2844999"/>
            <a:ext cx="2959026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RDU → IND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375440" y="3230761"/>
            <a:ext cx="2959026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About 206–209 minutes for RDU to IND and SGF to HYS.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09585" y="4134842"/>
            <a:ext cx="5333867" cy="1351062"/>
          </a:xfrm>
          <a:prstGeom prst="rect">
            <a:avLst/>
          </a:prstGeom>
          <a:solidFill>
            <a:srgbClr val="4A3670"/>
          </a:solidFill>
          <a:ln/>
        </p:spPr>
      </p:sp>
      <p:sp>
        <p:nvSpPr>
          <p:cNvPr id="17" name="Text 15"/>
          <p:cNvSpPr/>
          <p:nvPr/>
        </p:nvSpPr>
        <p:spPr>
          <a:xfrm>
            <a:off x="838179" y="4363442"/>
            <a:ext cx="5105272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BUSIEST ROUTES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38179" y="4654848"/>
            <a:ext cx="4876678" cy="60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SFO → LAX · LAX → SFO · JFK → LAX</a:t>
            </a:r>
            <a:endParaRPr lang="en-US" sz="14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These did not have comparably high average delay.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48244" y="4134842"/>
            <a:ext cx="5333867" cy="1351062"/>
          </a:xfrm>
          <a:prstGeom prst="roundRect">
            <a:avLst>
              <a:gd name="adj" fmla="val 846"/>
            </a:avLst>
          </a:prstGeom>
          <a:noFill/>
          <a:ln w="19050">
            <a:solidFill>
              <a:srgbClr val="3029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5887" y="4382492"/>
            <a:ext cx="5086223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OPERATING RULE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95887" y="4673898"/>
            <a:ext cx="4838579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Route averages need a minimum-flight threshold before they become an operational priority.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77895" y="6466086"/>
            <a:ext cx="897808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2026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939090" y="6466086"/>
            <a:ext cx="25260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8</a:t>
            </a:r>
            <a:endParaRPr lang="en-US" sz="10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D90B25B-A3CA-D6F2-CDEA-5B5BD5E6B2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7634" y="6121017"/>
            <a:ext cx="1191284" cy="73824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08 — CROSS-CHECK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29580"/>
            <a:ext cx="10972526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0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Python, SQL, and Power BI converge on the same operating picture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09585" y="2317055"/>
            <a:ext cx="797004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17102B"/>
                </a:solidFill>
                <a:latin typeface="Bitter SemiBold" pitchFamily="34" charset="0"/>
                <a:ea typeface="Bitter SemiBold" pitchFamily="34" charset="-122"/>
                <a:cs typeface="Bitter SemiBold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585" y="2565995"/>
            <a:ext cx="3454314" cy="19050"/>
          </a:xfrm>
          <a:prstGeom prst="rect">
            <a:avLst/>
          </a:prstGeom>
          <a:solidFill>
            <a:srgbClr val="17102B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2708533"/>
            <a:ext cx="345431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Python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09585" y="3056136"/>
            <a:ext cx="345431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37.08% delay rate after removing cancelled flights.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68691" y="2317055"/>
            <a:ext cx="821908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17102B"/>
                </a:solidFill>
                <a:latin typeface="Bitter SemiBold" pitchFamily="34" charset="0"/>
                <a:ea typeface="Bitter SemiBold" pitchFamily="34" charset="-122"/>
                <a:cs typeface="Bitter SemiBold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68691" y="2565995"/>
            <a:ext cx="3454314" cy="19050"/>
          </a:xfrm>
          <a:prstGeom prst="rect">
            <a:avLst/>
          </a:prstGeom>
          <a:solidFill>
            <a:srgbClr val="17102B"/>
          </a:solidFill>
          <a:ln/>
        </p:spPr>
      </p:sp>
      <p:sp>
        <p:nvSpPr>
          <p:cNvPr id="10" name="Text 8"/>
          <p:cNvSpPr/>
          <p:nvPr/>
        </p:nvSpPr>
        <p:spPr>
          <a:xfrm>
            <a:off x="4368691" y="2708533"/>
            <a:ext cx="345431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SQL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368691" y="3056136"/>
            <a:ext cx="345431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The same top airlines, worst months, delay reasons, and route outliers.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27797" y="2317055"/>
            <a:ext cx="82498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17102B"/>
                </a:solidFill>
                <a:latin typeface="Bitter SemiBold" pitchFamily="34" charset="0"/>
                <a:ea typeface="Bitter SemiBold" pitchFamily="34" charset="-122"/>
                <a:cs typeface="Bitter SemiBold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27797" y="2565995"/>
            <a:ext cx="3454314" cy="19050"/>
          </a:xfrm>
          <a:prstGeom prst="rect">
            <a:avLst/>
          </a:prstGeom>
          <a:solidFill>
            <a:srgbClr val="17102B"/>
          </a:solidFill>
          <a:ln/>
        </p:spPr>
      </p:sp>
      <p:sp>
        <p:nvSpPr>
          <p:cNvPr id="14" name="Text 12"/>
          <p:cNvSpPr/>
          <p:nvPr/>
        </p:nvSpPr>
        <p:spPr>
          <a:xfrm>
            <a:off x="8127797" y="2708533"/>
            <a:ext cx="345431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Power BI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127797" y="3056136"/>
            <a:ext cx="345431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9.37-minute average delay and 1.5% cancellation rate.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09585" y="3712567"/>
            <a:ext cx="4978275" cy="1284387"/>
          </a:xfrm>
          <a:prstGeom prst="roundRect">
            <a:avLst>
              <a:gd name="adj" fmla="val 890"/>
            </a:avLst>
          </a:prstGeom>
          <a:noFill/>
          <a:ln w="19050">
            <a:solidFill>
              <a:srgbClr val="3029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7229" y="3960217"/>
            <a:ext cx="4730632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ONE RECONCILIATION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57229" y="4251623"/>
            <a:ext cx="448298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The 36.5% dashboard delay rate includes cancelled flights; Python reports 37.08% after removing them.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892553" y="3712567"/>
            <a:ext cx="5689557" cy="1284387"/>
          </a:xfrm>
          <a:prstGeom prst="rect">
            <a:avLst/>
          </a:prstGeom>
          <a:solidFill>
            <a:srgbClr val="4A3670"/>
          </a:solidFill>
          <a:ln/>
        </p:spPr>
      </p:sp>
      <p:sp>
        <p:nvSpPr>
          <p:cNvPr id="20" name="Text 18"/>
          <p:cNvSpPr/>
          <p:nvPr/>
        </p:nvSpPr>
        <p:spPr>
          <a:xfrm>
            <a:off x="6121148" y="3941167"/>
            <a:ext cx="5460963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WHY IT MATTERS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121148" y="4232573"/>
            <a:ext cx="523236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The cross-check makes the direction more useful than any single metric.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77895" y="6466086"/>
            <a:ext cx="897808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2026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940975" y="6466086"/>
            <a:ext cx="250720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9</a:t>
            </a:r>
            <a:endParaRPr lang="en-US" sz="10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F45555D-B800-4955-8B21-67898C297F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7634" y="6121017"/>
            <a:ext cx="1191284" cy="73824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2142430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09 — OPERATING RESPONSE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2433201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Five actions would target the largest sources of delay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9585" y="3071316"/>
            <a:ext cx="3620798" cy="19050"/>
          </a:xfrm>
          <a:prstGeom prst="roundRect">
            <a:avLst>
              <a:gd name="adj" fmla="val 49999"/>
            </a:avLst>
          </a:prstGeom>
          <a:solidFill>
            <a:srgbClr val="17102B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3293566"/>
            <a:ext cx="10972526" cy="1422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7000"/>
              </a:lnSpc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Reduce late-aircraft propagation through tighter turnaround monitoring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Prioritize airline-controlled delay drivers before weather interventions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Plan extra capacity and recovery playbooks for June and winter peaks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Rank routes only after filtering for minimum flight volume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Font typeface="+mj-lt"/>
              <a:buAutoNum type="arabicPeriod" startAt="5"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Track both average delay and probability of delay by airline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77895" y="6466086"/>
            <a:ext cx="897808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883628" y="6466086"/>
            <a:ext cx="308067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10</a:t>
            </a:r>
            <a:endParaRPr lang="en-US" sz="1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3CCCC38-43E4-23EF-3BEA-9BFA68C5D4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7634" y="6121017"/>
            <a:ext cx="1191284" cy="73824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ark gradient">
  <a:themeElements>
    <a:clrScheme name="Dark gradient">
      <a:dk1>
        <a:sysClr val="windowText" lastClr="000000"/>
      </a:dk1>
      <a:lt1>
        <a:sysClr val="window" lastClr="FFFFFF"/>
      </a:lt1>
      <a:dk2>
        <a:srgbClr val="0B0C12"/>
      </a:dk2>
      <a:lt2>
        <a:srgbClr val="ECF0FB"/>
      </a:lt2>
      <a:accent1>
        <a:srgbClr val="4970FF"/>
      </a:accent1>
      <a:accent2>
        <a:srgbClr val="712ED5"/>
      </a:accent2>
      <a:accent3>
        <a:srgbClr val="00C4B6"/>
      </a:accent3>
      <a:accent4>
        <a:srgbClr val="3633D1"/>
      </a:accent4>
      <a:accent5>
        <a:srgbClr val="4AB1FE"/>
      </a:accent5>
      <a:accent6>
        <a:srgbClr val="9E2FD5"/>
      </a:accent6>
      <a:hlink>
        <a:srgbClr val="4970FF"/>
      </a:hlink>
      <a:folHlink>
        <a:srgbClr val="8E24FF"/>
      </a:folHlink>
    </a:clrScheme>
    <a:fontScheme name="Dark gradient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Dark gradien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6C0E157E-BBF9-45FB-91B2-9EEA263F6260}" vid="{4AA688F4-4384-4824-9BC0-914EFB7BEE9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Dark gradient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26</cp:revision>
  <dcterms:created xsi:type="dcterms:W3CDTF">2026-10-19T08:38:09Z</dcterms:created>
  <dcterms:modified xsi:type="dcterms:W3CDTF">2026-10-20T07:31:23Z</dcterms:modified>
</cp:coreProperties>
</file>